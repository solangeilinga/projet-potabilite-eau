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Log. Reg.</c:v>
                </c:pt>
                <c:pt idx="1">
                  <c:v>SVM</c:v>
                </c:pt>
                <c:pt idx="2">
                  <c:v>Rnd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</c:v>
                </c:pt>
                <c:pt idx="1">
                  <c:v>0.65</c:v>
                </c:pt>
                <c:pt idx="2">
                  <c:v>0.68</c:v>
                </c:pt>
                <c:pt idx="3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18-46F2-8247-CE97783389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Log. Reg.</c:v>
                </c:pt>
                <c:pt idx="1">
                  <c:v>SVM</c:v>
                </c:pt>
                <c:pt idx="2">
                  <c:v>Rnd Forest</c:v>
                </c:pt>
                <c:pt idx="3">
                  <c:v>XGBoost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0.52</c:v>
                </c:pt>
                <c:pt idx="2">
                  <c:v>0.57999999999999996</c:v>
                </c:pt>
                <c:pt idx="3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18-46F2-8247-CE97783389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274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F27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74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29968" y="744264"/>
            <a:ext cx="3657600" cy="36576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968800" y="1915884"/>
            <a:ext cx="3200400" cy="3200400"/>
          </a:xfrm>
          <a:prstGeom prst="ellipse">
            <a:avLst/>
          </a:prstGeom>
          <a:solidFill>
            <a:srgbClr val="1A6FA8">
              <a:alpha val="20000"/>
            </a:srgbClr>
          </a:solidFill>
          <a:ln w="12700">
            <a:solidFill>
              <a:srgbClr val="1A6FA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486400" y="-457200"/>
            <a:ext cx="1828800" cy="182880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4572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A6FA8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2D3EE"/>
                </a:solidFill>
              </a:rPr>
              <a:t>PROJET H2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 la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Potabilité de l'Eau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  ·  Machine Learning  ·  Application terrain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200400" cy="2743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256032" cy="256032"/>
          </a:xfrm>
          <a:prstGeom prst="ellipse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14400" y="29992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Aguiratou NITIEMA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256032" cy="256032"/>
          </a:xfrm>
          <a:prstGeom prst="ellipse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Yassine OUEDRAOGO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256032" cy="256032"/>
          </a:xfrm>
          <a:prstGeom prst="ellipse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14400" y="37673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Solange ILINGA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1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583680" y="1097280"/>
            <a:ext cx="2103120" cy="21031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486400" y="4160520"/>
            <a:ext cx="1097280" cy="822960"/>
          </a:xfrm>
          <a:prstGeom prst="rect">
            <a:avLst/>
          </a:prstGeom>
          <a:solidFill>
            <a:srgbClr val="0F2744"/>
          </a:solidFill>
          <a:ln w="6350">
            <a:solidFill>
              <a:srgbClr val="1A6FA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5486400" y="417880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3 276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0" y="45537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20840" y="4160520"/>
            <a:ext cx="1097280" cy="822960"/>
          </a:xfrm>
          <a:prstGeom prst="rect">
            <a:avLst/>
          </a:prstGeom>
          <a:solidFill>
            <a:srgbClr val="0F2744"/>
          </a:solidFill>
          <a:ln w="6350">
            <a:solidFill>
              <a:srgbClr val="1A6FA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720840" y="417880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720840" y="45537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955280" y="4160520"/>
            <a:ext cx="1097280" cy="822960"/>
          </a:xfrm>
          <a:prstGeom prst="rect">
            <a:avLst/>
          </a:prstGeom>
          <a:solidFill>
            <a:srgbClr val="0F2744"/>
          </a:solidFill>
          <a:ln w="6350">
            <a:solidFill>
              <a:srgbClr val="1A6FA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7955280" y="417880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955280" y="45537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201168"/>
            <a:ext cx="3200400" cy="32004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6FA8"/>
                </a:solidFill>
              </a:rPr>
              <a:t>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" cy="3474720"/>
          </a:xfrm>
          <a:prstGeom prst="rect">
            <a:avLst/>
          </a:prstGeom>
          <a:solidFill>
            <a:srgbClr val="4BA3C7"/>
          </a:solidFill>
          <a:ln w="12700">
            <a:solidFill>
              <a:srgbClr val="4BA3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474720" cy="1371600"/>
          </a:xfrm>
          <a:prstGeom prst="rect">
            <a:avLst/>
          </a:prstGeom>
          <a:solidFill>
            <a:srgbClr val="0F2744"/>
          </a:solidFill>
          <a:ln w="12700">
            <a:solidFill>
              <a:srgbClr val="4BA3C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4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décès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 liés à l'eau contaminée (OMS)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384048" cy="384048"/>
          </a:xfrm>
          <a:prstGeom prst="ellipse">
            <a:avLst/>
          </a:prstGeom>
          <a:solidFill>
            <a:srgbClr val="0F2744"/>
          </a:solidFill>
          <a:ln w="12700">
            <a:solidFill>
              <a:srgbClr val="7DD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21615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20640" y="1188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de personnes sans accès à l'eau potable en Afrique de l'Ouest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2103120"/>
            <a:ext cx="384048" cy="384048"/>
          </a:xfrm>
          <a:prstGeom prst="ellipse">
            <a:avLst/>
          </a:prstGeom>
          <a:solidFill>
            <a:srgbClr val="0F2744"/>
          </a:solidFill>
          <a:ln w="12700">
            <a:solidFill>
              <a:srgbClr val="7DD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3055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2103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laboratoires d'analyse en zones rurales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0" y="3017520"/>
            <a:ext cx="384048" cy="384048"/>
          </a:xfrm>
          <a:prstGeom prst="ellipse">
            <a:avLst/>
          </a:prstGeom>
          <a:solidFill>
            <a:srgbClr val="0F2744"/>
          </a:solidFill>
          <a:ln w="12700">
            <a:solidFill>
              <a:srgbClr val="7DD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04495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3017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urgent d'un outil de diagnostic rapide sur le terrain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2743200"/>
            <a:ext cx="8229600" cy="640080"/>
          </a:xfrm>
          <a:prstGeom prst="rect">
            <a:avLst/>
          </a:prstGeom>
          <a:solidFill>
            <a:srgbClr val="1A6FA8">
              <a:alpha val="85000"/>
            </a:srgbClr>
          </a:solidFill>
          <a:ln w="1270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83464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2761488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Classificateur ML basé sur 9 paramètres physico-chimiques → potable ou non en quelques secondes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Burkina Faso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2148840"/>
            <a:ext cx="2743200" cy="2743200"/>
          </a:xfrm>
          <a:prstGeom prst="ellipse">
            <a:avLst/>
          </a:prstGeom>
          <a:solidFill>
            <a:srgbClr val="1A6FA8">
              <a:alpha val="15000"/>
            </a:srgbClr>
          </a:solidFill>
          <a:ln w="12700">
            <a:solidFill>
              <a:srgbClr val="1A6FA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6FA8"/>
                </a:solidFill>
              </a:rPr>
              <a:t>DONNÉES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Potability Dataset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57600" cy="3474720"/>
          </a:xfrm>
          <a:prstGeom prst="rect">
            <a:avLst/>
          </a:prstGeom>
          <a:solidFill>
            <a:srgbClr val="0F2744"/>
          </a:solidFill>
          <a:ln w="10160">
            <a:solidFill>
              <a:srgbClr val="1A6FA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371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Kaggle Dataset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3774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7DD3F0"/>
                </a:solidFill>
              </a:rPr>
              <a:t>3 276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2024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échantillons d'eau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7980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7DD3F0"/>
                </a:solidFill>
              </a:rPr>
              <a:t>9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920240" y="27980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variables physico-chimiques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218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7DD3F0"/>
                </a:solidFill>
              </a:rPr>
              <a:t>61%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920240" y="32186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non potable (classe 0)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6393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7DD3F0"/>
                </a:solidFill>
              </a:rPr>
              <a:t>39%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920240" y="36393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potable (classe 1)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40599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7DD3F0"/>
                </a:solidFill>
              </a:rPr>
              <a:t>24%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920240" y="40599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valeurs manquantes (Sulfate)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Variables prédictives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0" y="1645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F2744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572000" y="1645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</a:rPr>
              <a:t>pH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62472" y="1645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F2744"/>
          </a:solidFill>
          <a:ln w="1905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6062472" y="1645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FA8"/>
                </a:solidFill>
              </a:rPr>
              <a:t>Hardness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552944" y="16459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F2744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7552944" y="1645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</a:rPr>
              <a:t>Solids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0" y="22402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F2744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4572000" y="2240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</a:rPr>
              <a:t>Chloramines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62472" y="22402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F2744"/>
          </a:solidFill>
          <a:ln w="19050">
            <a:solidFill>
              <a:srgbClr val="7DD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6062472" y="2240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DD3F0"/>
                </a:solidFill>
              </a:rPr>
              <a:t>Sulfate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552944" y="22402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F2744"/>
          </a:solidFill>
          <a:ln w="1905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7552944" y="2240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FA8"/>
                </a:solidFill>
              </a:rPr>
              <a:t>Conductivity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0" y="28346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F2744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4572000" y="2834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</a:rPr>
              <a:t>Org. Carbon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062472" y="28346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F2744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6062472" y="2834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</a:rPr>
              <a:t>Trihalomethanes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552944" y="28346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0F2744"/>
          </a:solidFill>
          <a:ln w="19050">
            <a:solidFill>
              <a:srgbClr val="7DD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7552944" y="2834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DD3F0"/>
                </a:solidFill>
              </a:rPr>
              <a:t>Turbidity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0" y="3520440"/>
            <a:ext cx="4297680" cy="640080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4572000" y="35204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Cible : Potability  →  0 = Non potable  |  1 = Potable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572000" y="4297680"/>
            <a:ext cx="4297680" cy="502920"/>
          </a:xfrm>
          <a:prstGeom prst="roundRect">
            <a:avLst>
              <a:gd name="adj" fmla="val 10909"/>
            </a:avLst>
          </a:prstGeom>
          <a:solidFill>
            <a:srgbClr val="0F2744"/>
          </a:solidFill>
          <a:ln w="10160">
            <a:solidFill>
              <a:srgbClr val="7DD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4572000" y="42976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DD3F0"/>
                </a:solidFill>
              </a:rPr>
              <a:t>Imputation : KNN (k=5 voisins) sur valeurs manquantes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6FA8"/>
                </a:solidFill>
              </a:rPr>
              <a:t>MÉTHODOLOGIE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Machine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74520" y="2148840"/>
            <a:ext cx="2011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554480" cy="1920240"/>
          </a:xfrm>
          <a:prstGeom prst="rect">
            <a:avLst/>
          </a:prstGeom>
          <a:solidFill>
            <a:srgbClr val="0F2744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55448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Visualisation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30168" y="2148840"/>
            <a:ext cx="2011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075688" y="1234440"/>
            <a:ext cx="1554480" cy="1920240"/>
          </a:xfrm>
          <a:prstGeom prst="rect">
            <a:avLst/>
          </a:prstGeom>
          <a:solidFill>
            <a:srgbClr val="0F2744"/>
          </a:solidFill>
          <a:ln w="19050">
            <a:solidFill>
              <a:srgbClr val="1A6FA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075688" y="1234440"/>
            <a:ext cx="1554480" cy="20116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075688" y="12344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75688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67128" y="199339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KNN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85816" y="2148840"/>
            <a:ext cx="2011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831336" y="1234440"/>
            <a:ext cx="1554480" cy="1920240"/>
          </a:xfrm>
          <a:prstGeom prst="rect">
            <a:avLst/>
          </a:prstGeom>
          <a:solidFill>
            <a:srgbClr val="0F2744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831336" y="1234440"/>
            <a:ext cx="155448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831336" y="12344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31336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22776" y="199339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entraînés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41464" y="2148840"/>
            <a:ext cx="2011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586984" y="1234440"/>
            <a:ext cx="1554480" cy="1920240"/>
          </a:xfrm>
          <a:prstGeom prst="rect">
            <a:avLst/>
          </a:prstGeom>
          <a:solidFill>
            <a:srgbClr val="0F2744"/>
          </a:solidFill>
          <a:ln w="19050">
            <a:solidFill>
              <a:srgbClr val="7DD3F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586984" y="1234440"/>
            <a:ext cx="1554480" cy="201168"/>
          </a:xfrm>
          <a:prstGeom prst="rect">
            <a:avLst/>
          </a:prstGeom>
          <a:solidFill>
            <a:srgbClr val="7DD3F0"/>
          </a:solidFill>
          <a:ln w="12700">
            <a:solidFill>
              <a:srgbClr val="7DD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586984" y="12344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86984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D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78424" y="199339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ROC, F1,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42632" y="1234440"/>
            <a:ext cx="1554480" cy="1920240"/>
          </a:xfrm>
          <a:prstGeom prst="rect">
            <a:avLst/>
          </a:prstGeom>
          <a:solidFill>
            <a:srgbClr val="0F2744"/>
          </a:solidFill>
          <a:ln w="19050">
            <a:solidFill>
              <a:srgbClr val="4BA3C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342632" y="1234440"/>
            <a:ext cx="1554480" cy="201168"/>
          </a:xfrm>
          <a:prstGeom prst="rect">
            <a:avLst/>
          </a:prstGeom>
          <a:solidFill>
            <a:srgbClr val="4BA3C7"/>
          </a:solidFill>
          <a:ln w="12700">
            <a:solidFill>
              <a:srgbClr val="4BA3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342632" y="12344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42632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34072" y="199339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finaux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0F2744"/>
          </a:solidFill>
          <a:ln w="1016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0292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best_model.pkl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4114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Modèle XGBoost sérialisé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51760" y="374904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0F2744"/>
          </a:solidFill>
          <a:ln w="10160">
            <a:solidFill>
              <a:srgbClr val="1A6FA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69748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scaler.pkl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97480" y="4114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Normalisation sauvegardée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374904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0F2744"/>
          </a:solidFill>
          <a:ln w="10160">
            <a:solidFill>
              <a:srgbClr val="7DD3F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89204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DD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optimal_threshold.npy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92040" y="4114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Seuil de décision calibré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40880" y="374904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0F2744"/>
          </a:solidFill>
          <a:ln w="10160">
            <a:solidFill>
              <a:srgbClr val="4BA3C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7086600" y="3767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(Streamlit)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86600" y="4114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Interface terrain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6FA8"/>
                </a:solidFill>
              </a:rPr>
              <a:t>MODÉLISATION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Algorithmes comparés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65960" cy="3474720"/>
          </a:xfrm>
          <a:prstGeom prst="rect">
            <a:avLst/>
          </a:prstGeom>
          <a:solidFill>
            <a:srgbClr val="0F2744"/>
          </a:solidFill>
          <a:ln w="10160">
            <a:solidFill>
              <a:srgbClr val="94A3B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AUC-ROC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30552"/>
            <a:ext cx="1600200" cy="1463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48640" y="2130552"/>
            <a:ext cx="992124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F1-Score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347472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94A3B8">
              <a:alpha val="6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Rang 4e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1143000"/>
            <a:ext cx="1965960" cy="3474720"/>
          </a:xfrm>
          <a:prstGeom prst="rect">
            <a:avLst/>
          </a:prstGeom>
          <a:solidFill>
            <a:srgbClr val="0F2744"/>
          </a:solidFill>
          <a:ln w="10160">
            <a:solidFill>
              <a:srgbClr val="1A6FA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651760" y="12344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97480" y="18745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AUC-ROC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2130552"/>
            <a:ext cx="1600200" cy="1463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0" y="2130552"/>
            <a:ext cx="1040130" cy="14630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651760" y="22860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697480" y="27432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F1-Score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5176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108960" y="347472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1A6FA8">
              <a:alpha val="60000"/>
            </a:srgbClr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108960" y="34747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Rang 3e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143000"/>
            <a:ext cx="1965960" cy="3474720"/>
          </a:xfrm>
          <a:prstGeom prst="rect">
            <a:avLst/>
          </a:prstGeom>
          <a:solidFill>
            <a:srgbClr val="0F2744"/>
          </a:solidFill>
          <a:ln w="1016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46320" y="12344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92040" y="18745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AUC-ROC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2130552"/>
            <a:ext cx="1600200" cy="1463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937760" y="2130552"/>
            <a:ext cx="1088136" cy="1463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46320" y="22860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892040" y="27432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F1-Score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303520" y="347472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22D3EE">
              <a:alpha val="6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303520" y="34747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Rang 2e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49440" y="1143000"/>
            <a:ext cx="1965960" cy="3474720"/>
          </a:xfrm>
          <a:prstGeom prst="rect">
            <a:avLst/>
          </a:prstGeom>
          <a:solidFill>
            <a:srgbClr val="0F2744"/>
          </a:solidFill>
          <a:ln w="2540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949440" y="1143000"/>
            <a:ext cx="1965960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949440" y="1143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A1628"/>
                </a:solidFill>
              </a:rPr>
              <a:t>MEILLEUR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14630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86600" y="210312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AUC-ROC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32320" y="2359152"/>
            <a:ext cx="1600200" cy="1463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7132320" y="2359152"/>
            <a:ext cx="1120140" cy="1463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7040880" y="25146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086600" y="29718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F1-Score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40880" y="3200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498080" y="370332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7498080" y="37033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Rang 1er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6FA8"/>
                </a:solidFill>
              </a:rPr>
              <a:t>RÉSULTATS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comparées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 5-fold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43600" y="1600200"/>
            <a:ext cx="292608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5943600" y="1600200"/>
            <a:ext cx="54864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08076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80760" y="18928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69480" y="1920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377440"/>
            <a:ext cx="292608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943600" y="2377440"/>
            <a:ext cx="54864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08076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26700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6948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0" y="3154680"/>
            <a:ext cx="292608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7DD3F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5943600" y="3154680"/>
            <a:ext cx="54864" cy="658368"/>
          </a:xfrm>
          <a:prstGeom prst="rect">
            <a:avLst/>
          </a:prstGeom>
          <a:solidFill>
            <a:srgbClr val="7DD3F0"/>
          </a:solidFill>
          <a:ln w="12700">
            <a:solidFill>
              <a:srgbClr val="7DD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08076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80760" y="344728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269480" y="3474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0.03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43600" y="3931920"/>
            <a:ext cx="292608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1A6FA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5943600" y="3931920"/>
            <a:ext cx="54864" cy="65836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08076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080760" y="42245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269480" y="4251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0.03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466344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0F2744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45720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Les scores modérés sont normaux pour ce dataset (fort taux de valeurs manquantes + chevauchement des classes)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6FA8"/>
                </a:solidFill>
              </a:rPr>
              <a:t>OPTIMISATION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asymétrique &amp; Interprétabilité SHAP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0F2744"/>
          </a:solidFill>
          <a:ln w="12700">
            <a:solidFill>
              <a:srgbClr val="4BA3C7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solidFill>
            <a:srgbClr val="4BA3C7"/>
          </a:solidFill>
          <a:ln w="12700">
            <a:solidFill>
              <a:srgbClr val="4BA3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Seuil de décision optimisé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</a:rPr>
                        <a:t>Erreur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</a:rPr>
                        <a:t>Risque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Faux Positif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</a:rPr>
                        <a:t>Potable → Non potable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DD3F0"/>
                          </a:solidFill>
                        </a:rPr>
                        <a:t>Inconvénient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A3C7"/>
                          </a:solidFill>
                        </a:rPr>
                        <a:t>Faux Négatif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A3C7"/>
                          </a:solidFill>
                        </a:rPr>
                        <a:t>Non potable → Potable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BA3C7"/>
                          </a:solidFill>
                        </a:rPr>
                        <a:t>DANGER !</a:t>
                      </a:r>
                      <a:endParaRPr lang="en-US" sz="10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1371600" y="2743200"/>
            <a:ext cx="1371600" cy="1371600"/>
          </a:xfrm>
          <a:prstGeom prst="ellipse">
            <a:avLst/>
          </a:prstGeom>
          <a:solidFill>
            <a:srgbClr val="22D3EE">
              <a:alpha val="85000"/>
            </a:srgbClr>
          </a:solidFill>
          <a:ln w="2540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137160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τ* =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vs seuil par défaut 0.50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</a:rPr>
              <a:t>Recall classe 0 ≥ 70% garanti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4389120" cy="3474720"/>
          </a:xfrm>
          <a:prstGeom prst="rect">
            <a:avLst/>
          </a:prstGeom>
          <a:solidFill>
            <a:srgbClr val="0F2744"/>
          </a:solidFill>
          <a:ln w="12700">
            <a:solidFill>
              <a:srgbClr val="7DD3F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4754880" y="1188720"/>
            <a:ext cx="4114800" cy="320040"/>
          </a:xfrm>
          <a:prstGeom prst="rect">
            <a:avLst/>
          </a:prstGeom>
          <a:solidFill>
            <a:srgbClr val="7DD3F0"/>
          </a:solidFill>
          <a:ln w="12700">
            <a:solidFill>
              <a:srgbClr val="7DD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75488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Top Features SHAP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1664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Sulfate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09360" y="1728216"/>
            <a:ext cx="274320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309360" y="1728216"/>
            <a:ext cx="2331720" cy="182880"/>
          </a:xfrm>
          <a:prstGeom prst="rect">
            <a:avLst/>
          </a:prstGeom>
          <a:solidFill>
            <a:srgbClr val="4BA3C7"/>
          </a:solidFill>
          <a:ln w="12700">
            <a:solidFill>
              <a:srgbClr val="4BA3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8686800" y="16642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A3C7"/>
                </a:solidFill>
              </a:rPr>
              <a:t>0.85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46320" y="21214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309360" y="2185416"/>
            <a:ext cx="274320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6309360" y="2185416"/>
            <a:ext cx="1975104" cy="182880"/>
          </a:xfrm>
          <a:prstGeom prst="rect">
            <a:avLst/>
          </a:prstGeom>
          <a:solidFill>
            <a:srgbClr val="7DD3F0"/>
          </a:solidFill>
          <a:ln w="12700">
            <a:solidFill>
              <a:srgbClr val="7DD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8330184" y="21214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0"/>
                </a:solidFill>
              </a:rPr>
              <a:t>0.72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46320" y="2578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Chloramines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309360" y="2642616"/>
            <a:ext cx="274320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6309360" y="2642616"/>
            <a:ext cx="1673352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8028432" y="25786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</a:rPr>
              <a:t>0.61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46320" y="30358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Conductivity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309360" y="3099816"/>
            <a:ext cx="274320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6"/>
          <p:cNvSpPr/>
          <p:nvPr/>
        </p:nvSpPr>
        <p:spPr>
          <a:xfrm>
            <a:off x="6309360" y="3099816"/>
            <a:ext cx="1316736" cy="18288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7671816" y="30358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FA8"/>
                </a:solidFill>
              </a:rPr>
              <a:t>0.48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46320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Organic Carbon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309360" y="3557016"/>
            <a:ext cx="274320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0"/>
          <p:cNvSpPr/>
          <p:nvPr/>
        </p:nvSpPr>
        <p:spPr>
          <a:xfrm>
            <a:off x="6309360" y="3557016"/>
            <a:ext cx="1069848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7424928" y="34930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</a:rPr>
              <a:t>0.39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846320" y="3950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Trihalomethanes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309360" y="4014216"/>
            <a:ext cx="274320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4"/>
          <p:cNvSpPr/>
          <p:nvPr/>
        </p:nvSpPr>
        <p:spPr>
          <a:xfrm>
            <a:off x="6309360" y="4014216"/>
            <a:ext cx="79552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7150608" y="39502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0.29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6FA8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Terrain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3794760"/>
          </a:xfrm>
          <a:prstGeom prst="rect">
            <a:avLst/>
          </a:prstGeom>
          <a:solidFill>
            <a:srgbClr val="0D1117"/>
          </a:solidFill>
          <a:ln w="19050">
            <a:solidFill>
              <a:srgbClr val="1A6FA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💧 Prédiction de la Potabilité de l'Eau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0D2545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</a:rPr>
              <a:t>✅  EAU POTABLE   —   Score : 0.73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Probabilité de potabilité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466344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40080" y="2395728"/>
            <a:ext cx="3404311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</a:rPr>
              <a:t>Paramètres analysés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2240280" cy="301752"/>
          </a:xfrm>
          <a:prstGeom prst="roundRect">
            <a:avLst>
              <a:gd name="adj" fmla="val 12121"/>
            </a:avLst>
          </a:prstGeom>
          <a:solidFill>
            <a:srgbClr val="0D2545"/>
          </a:solidFill>
          <a:ln w="1016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</a:rPr>
              <a:t>pH = 7.2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971800"/>
            <a:ext cx="2240280" cy="301752"/>
          </a:xfrm>
          <a:prstGeom prst="roundRect">
            <a:avLst>
              <a:gd name="adj" fmla="val 12121"/>
            </a:avLst>
          </a:prstGeom>
          <a:solidFill>
            <a:srgbClr val="0D2545"/>
          </a:solidFill>
          <a:ln w="10160">
            <a:solidFill>
              <a:srgbClr val="4BA3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017520" y="2971800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A3C7"/>
                </a:solidFill>
              </a:rPr>
              <a:t>Sulfate = 380 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355848"/>
            <a:ext cx="2240280" cy="301752"/>
          </a:xfrm>
          <a:prstGeom prst="roundRect">
            <a:avLst>
              <a:gd name="adj" fmla="val 12121"/>
            </a:avLst>
          </a:prstGeom>
          <a:solidFill>
            <a:srgbClr val="0D2545"/>
          </a:solidFill>
          <a:ln w="1016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0080" y="3355848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</a:rPr>
              <a:t>Turbidity = 3.1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3355848"/>
            <a:ext cx="2240280" cy="301752"/>
          </a:xfrm>
          <a:prstGeom prst="roundRect">
            <a:avLst>
              <a:gd name="adj" fmla="val 12121"/>
            </a:avLst>
          </a:prstGeom>
          <a:solidFill>
            <a:srgbClr val="0D2545"/>
          </a:solidFill>
          <a:ln w="1016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017520" y="3355848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</a:rPr>
              <a:t>Chloramines = 3.5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0" y="1572768"/>
            <a:ext cx="347472" cy="347472"/>
          </a:xfrm>
          <a:prstGeom prst="ellipse">
            <a:avLst/>
          </a:prstGeom>
          <a:solidFill>
            <a:srgbClr val="0F2744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600200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144768" y="15727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9 paramètres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44768" y="17922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Sliders interactifs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669280" y="2212848"/>
            <a:ext cx="347472" cy="347472"/>
          </a:xfrm>
          <a:prstGeom prst="ellipse">
            <a:avLst/>
          </a:prstGeom>
          <a:solidFill>
            <a:srgbClr val="0F2744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240280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144768" y="22128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instantané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144768" y="24323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Potable / Non potable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669280" y="2852928"/>
            <a:ext cx="347472" cy="347472"/>
          </a:xfrm>
          <a:prstGeom prst="ellipse">
            <a:avLst/>
          </a:prstGeom>
          <a:solidFill>
            <a:srgbClr val="0F2744"/>
          </a:solidFill>
          <a:ln w="12700">
            <a:solidFill>
              <a:srgbClr val="4BA3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880360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144768" y="2852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OMS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144768" y="307238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Paramètres hors norme en rouge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669280" y="3493008"/>
            <a:ext cx="347472" cy="347472"/>
          </a:xfrm>
          <a:prstGeom prst="ellipse">
            <a:avLst/>
          </a:prstGeom>
          <a:solidFill>
            <a:srgbClr val="0F2744"/>
          </a:solidFill>
          <a:ln w="12700">
            <a:solidFill>
              <a:srgbClr val="7DD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3520440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144768" y="34930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SHAP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144768" y="37124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Décision interprétable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669280" y="4133088"/>
            <a:ext cx="347472" cy="347472"/>
          </a:xfrm>
          <a:prstGeom prst="ellipse">
            <a:avLst/>
          </a:prstGeom>
          <a:solidFill>
            <a:srgbClr val="0F2744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4160520"/>
            <a:ext cx="256032" cy="25603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144768" y="4133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Utilisable sur terrain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6144768" y="4352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Sans expertise ML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7585"/>
            <a:ext cx="4572000" cy="45720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0" y="1811376"/>
            <a:ext cx="3200400" cy="3200400"/>
          </a:xfrm>
          <a:prstGeom prst="ellipse">
            <a:avLst/>
          </a:prstGeom>
          <a:solidFill>
            <a:srgbClr val="1A6FA8">
              <a:alpha val="20000"/>
            </a:srgbClr>
          </a:solidFill>
          <a:ln w="12700">
            <a:solidFill>
              <a:srgbClr val="1A6FA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6FA8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65960" cy="1188720"/>
          </a:xfrm>
          <a:prstGeom prst="rect">
            <a:avLst/>
          </a:prstGeom>
          <a:solidFill>
            <a:srgbClr val="0F2744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6596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Meilleur modèle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234440"/>
            <a:ext cx="1965960" cy="1188720"/>
          </a:xfrm>
          <a:prstGeom prst="rect">
            <a:avLst/>
          </a:prstGeom>
          <a:solidFill>
            <a:srgbClr val="0F2744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651760" y="1234440"/>
            <a:ext cx="196596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651760" y="1371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1874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Performance test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234440"/>
            <a:ext cx="1965960" cy="1188720"/>
          </a:xfrm>
          <a:prstGeom prst="rect">
            <a:avLst/>
          </a:prstGeom>
          <a:solidFill>
            <a:srgbClr val="0F2744"/>
          </a:solidFill>
          <a:ln w="19050">
            <a:solidFill>
              <a:srgbClr val="7DD3F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846320" y="1234440"/>
            <a:ext cx="1965960" cy="73152"/>
          </a:xfrm>
          <a:prstGeom prst="rect">
            <a:avLst/>
          </a:prstGeom>
          <a:solidFill>
            <a:srgbClr val="7DD3F0"/>
          </a:solidFill>
          <a:ln w="12700">
            <a:solidFill>
              <a:srgbClr val="7DD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46320" y="1371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D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τ* = 0.40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Seuil optimisé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234440"/>
            <a:ext cx="1965960" cy="1188720"/>
          </a:xfrm>
          <a:prstGeom prst="rect">
            <a:avLst/>
          </a:prstGeom>
          <a:solidFill>
            <a:srgbClr val="0F2744"/>
          </a:solidFill>
          <a:ln w="19050">
            <a:solidFill>
              <a:srgbClr val="1A6FA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040880" y="1234440"/>
            <a:ext cx="1965960" cy="7315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040880" y="1371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40880" y="1874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App déployée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201168" cy="201168"/>
          </a:xfrm>
          <a:prstGeom prst="ellipse">
            <a:avLst/>
          </a:prstGeom>
          <a:solidFill>
            <a:srgbClr val="4BA3C7">
              <a:alpha val="70000"/>
            </a:srgbClr>
          </a:solidFill>
          <a:ln w="12700">
            <a:solidFill>
              <a:srgbClr val="4BA3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77240" y="29443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Valeurs manquantes élevées (Sulfate 24%)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55848"/>
            <a:ext cx="201168" cy="201168"/>
          </a:xfrm>
          <a:prstGeom prst="ellipse">
            <a:avLst/>
          </a:prstGeom>
          <a:solidFill>
            <a:srgbClr val="4BA3C7">
              <a:alpha val="70000"/>
            </a:srgbClr>
          </a:solidFill>
          <a:ln w="12700">
            <a:solidFill>
              <a:srgbClr val="4BA3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77240" y="3328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Dataset non spécifique à l'Afrique de l'Ouest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7124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074920" y="294436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074920" y="332841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596" y="3072384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997548" y="300009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Données locales Afrique de l'Ouest</a:t>
            </a:r>
            <a:endParaRPr lang="en-US" sz="11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534156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029200" y="34705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dirty="0">
                <a:solidFill>
                  <a:schemeClr val="bg1"/>
                </a:solidFill>
              </a:rPr>
              <a:t> Ensemble plus robuste : </a:t>
            </a:r>
            <a:r>
              <a:rPr lang="fr-FR" sz="1100" dirty="0" err="1">
                <a:solidFill>
                  <a:schemeClr val="bg1"/>
                </a:solidFill>
              </a:rPr>
              <a:t>VotingClassifier</a:t>
            </a:r>
            <a:r>
              <a:rPr lang="fr-FR" sz="1100" dirty="0">
                <a:solidFill>
                  <a:schemeClr val="bg1"/>
                </a:solidFill>
              </a:rPr>
              <a:t> (RF + </a:t>
            </a:r>
            <a:r>
              <a:rPr lang="fr-FR" sz="1100" dirty="0" err="1">
                <a:solidFill>
                  <a:schemeClr val="bg1"/>
                </a:solidFill>
              </a:rPr>
              <a:t>XGBoost</a:t>
            </a:r>
            <a:r>
              <a:rPr lang="fr-FR" sz="1100" dirty="0">
                <a:solidFill>
                  <a:schemeClr val="bg1"/>
                </a:solidFill>
              </a:rPr>
              <a:t> + </a:t>
            </a:r>
            <a:r>
              <a:rPr lang="fr-FR" sz="1100" dirty="0" err="1">
                <a:solidFill>
                  <a:schemeClr val="bg1"/>
                </a:solidFill>
              </a:rPr>
              <a:t>GradientBoosting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8" name="Shape 32"/>
          <p:cNvSpPr/>
          <p:nvPr/>
        </p:nvSpPr>
        <p:spPr>
          <a:xfrm>
            <a:off x="1371600" y="4434840"/>
            <a:ext cx="6583680" cy="548640"/>
          </a:xfrm>
          <a:prstGeom prst="rect">
            <a:avLst/>
          </a:prstGeom>
          <a:solidFill>
            <a:srgbClr val="1A6FA8">
              <a:alpha val="85000"/>
            </a:srgbClr>
          </a:solidFill>
          <a:ln w="1270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9" name="Text 33"/>
          <p:cNvSpPr/>
          <p:nvPr/>
        </p:nvSpPr>
        <p:spPr>
          <a:xfrm>
            <a:off x="1371600" y="443484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attention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504</Words>
  <Application>Microsoft Office PowerPoint</Application>
  <PresentationFormat>Affichage à l'écran (16:9)</PresentationFormat>
  <Paragraphs>200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de la Potabilité de l'Eau</dc:title>
  <dc:subject>PptxGenJS Presentation</dc:subject>
  <dc:creator>NITIEMA · OUEDRAOGO · YILIGA</dc:creator>
  <cp:lastModifiedBy>Solange ILINGA</cp:lastModifiedBy>
  <cp:revision>3</cp:revision>
  <dcterms:created xsi:type="dcterms:W3CDTF">2026-06-03T10:54:20Z</dcterms:created>
  <dcterms:modified xsi:type="dcterms:W3CDTF">2026-06-04T12:48:12Z</dcterms:modified>
</cp:coreProperties>
</file>